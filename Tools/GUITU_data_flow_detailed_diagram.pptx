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txBody>
          <a:bodyPr/>
          <a:lstStyle/>
        </p:txBody>
      </p:sp>
      <p:sp>
        <p:nvSpPr>
          <p:cNvPr id="3" name="Text"/>
          <p:cNvSpPr/>
          <p:nvPr/>
        </p:nvSpPr>
        <p:spPr>
          <a:xfrm>
            <a:off x="419100" y="228600"/>
            <a:ext cx="61912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l"/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系统数据流增强版</a:t>
            </a:r>
            <a:endParaRPr lang="zh-CN" sz="2400"/>
          </a:p>
        </p:txBody>
      </p:sp>
      <p:sp>
        <p:nvSpPr>
          <p:cNvPr id="4" name="Text"/>
          <p:cNvSpPr/>
          <p:nvPr/>
        </p:nvSpPr>
        <p:spPr>
          <a:xfrm>
            <a:off x="438150" y="609600"/>
            <a:ext cx="10287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l"/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在总览链路上补充关键数据名，既能看清系统全貌，也方便展开讲解任务、队列和状态流转。</a:t>
            </a:r>
            <a:endParaRPr lang="zh-CN" sz="1250"/>
          </a:p>
        </p:txBody>
      </p:sp>
      <p:sp>
        <p:nvSpPr>
          <p:cNvPr id="5" name="Text"/>
          <p:cNvSpPr/>
          <p:nvPr/>
        </p:nvSpPr>
        <p:spPr>
          <a:xfrm>
            <a:off x="495300" y="10001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5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外设输入</a:t>
            </a:r>
            <a:endParaRPr lang="zh-CN" sz="1500"/>
          </a:p>
        </p:txBody>
      </p:sp>
      <p:sp>
        <p:nvSpPr>
          <p:cNvPr id="6" name="Text"/>
          <p:cNvSpPr/>
          <p:nvPr/>
        </p:nvSpPr>
        <p:spPr>
          <a:xfrm>
            <a:off x="2476500" y="1000125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5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任务处理</a:t>
            </a:r>
            <a:endParaRPr lang="zh-CN" sz="1500"/>
          </a:p>
        </p:txBody>
      </p:sp>
      <p:sp>
        <p:nvSpPr>
          <p:cNvPr id="7" name="Text"/>
          <p:cNvSpPr/>
          <p:nvPr/>
        </p:nvSpPr>
        <p:spPr>
          <a:xfrm>
            <a:off x="4953000" y="10001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控制中心与状态</a:t>
            </a:r>
            <a:endParaRPr lang="zh-CN" sz="1500"/>
          </a:p>
        </p:txBody>
      </p:sp>
      <p:sp>
        <p:nvSpPr>
          <p:cNvPr id="8" name="Text"/>
          <p:cNvSpPr/>
          <p:nvPr/>
        </p:nvSpPr>
        <p:spPr>
          <a:xfrm>
            <a:off x="8763000" y="1000125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输出与反馈</a:t>
            </a:r>
            <a:endParaRPr lang="zh-CN" sz="1500"/>
          </a:p>
        </p:txBody>
      </p:sp>
      <p:sp>
        <p:nvSpPr>
          <p:cNvPr id="9" name="IMU"/>
          <p:cNvSpPr/>
          <p:nvPr/>
        </p:nvSpPr>
        <p:spPr>
          <a:xfrm>
            <a:off x="457200" y="1409700"/>
            <a:ext cx="1428750" cy="552450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0" name="Text"/>
          <p:cNvSpPr/>
          <p:nvPr/>
        </p:nvSpPr>
        <p:spPr>
          <a:xfrm>
            <a:off x="523875" y="146685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IMU</a:t>
            </a:r>
            <a:endParaRPr lang="zh-CN" sz="1450"/>
          </a:p>
        </p:txBody>
      </p:sp>
      <p:sp>
        <p:nvSpPr>
          <p:cNvPr id="11" name="Text"/>
          <p:cNvSpPr/>
          <p:nvPr/>
        </p:nvSpPr>
        <p:spPr>
          <a:xfrm>
            <a:off x="523875" y="1704975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UART DMA 200Hz</a:t>
            </a:r>
            <a:endParaRPr lang="zh-CN" sz="1150"/>
          </a:p>
        </p:txBody>
      </p:sp>
      <p:sp>
        <p:nvSpPr>
          <p:cNvPr id="12" name="姿态/步态解算"/>
          <p:cNvSpPr/>
          <p:nvPr/>
        </p:nvSpPr>
        <p:spPr>
          <a:xfrm>
            <a:off x="2457450" y="1409700"/>
            <a:ext cx="1809750" cy="55245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13" name="Text"/>
          <p:cNvSpPr/>
          <p:nvPr/>
        </p:nvSpPr>
        <p:spPr>
          <a:xfrm>
            <a:off x="2524125" y="14668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姿态/步态解算</a:t>
            </a:r>
            <a:endParaRPr lang="zh-CN" sz="1450"/>
          </a:p>
        </p:txBody>
      </p:sp>
      <p:sp>
        <p:nvSpPr>
          <p:cNvPr id="14" name="Text"/>
          <p:cNvSpPr/>
          <p:nvPr/>
        </p:nvSpPr>
        <p:spPr>
          <a:xfrm>
            <a:off x="2524125" y="170497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位移增量 + 航向</a:t>
            </a:r>
            <a:endParaRPr lang="zh-CN" sz="1150"/>
          </a:p>
        </p:txBody>
      </p:sp>
      <p:cxnSp>
        <p:nvCxnSpPr>
          <p:cNvPr id="15" name="Line"/>
          <p:cNvCxnSpPr/>
          <p:nvPr/>
        </p:nvCxnSpPr>
        <p:spPr>
          <a:xfrm>
            <a:off x="1885950" y="1685925"/>
            <a:ext cx="571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16" name="气体ADC"/>
          <p:cNvSpPr/>
          <p:nvPr/>
        </p:nvSpPr>
        <p:spPr>
          <a:xfrm>
            <a:off x="457200" y="2152650"/>
            <a:ext cx="1428750" cy="552450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7" name="Text"/>
          <p:cNvSpPr/>
          <p:nvPr/>
        </p:nvSpPr>
        <p:spPr>
          <a:xfrm>
            <a:off x="523875" y="220980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气体ADC</a:t>
            </a:r>
            <a:endParaRPr lang="zh-CN" sz="1450"/>
          </a:p>
        </p:txBody>
      </p:sp>
      <p:sp>
        <p:nvSpPr>
          <p:cNvPr id="18" name="Text"/>
          <p:cNvSpPr/>
          <p:nvPr/>
        </p:nvSpPr>
        <p:spPr>
          <a:xfrm>
            <a:off x="523875" y="2447925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10s后采样</a:t>
            </a:r>
            <a:endParaRPr lang="zh-CN" sz="1150"/>
          </a:p>
        </p:txBody>
      </p:sp>
      <p:sp>
        <p:nvSpPr>
          <p:cNvPr id="19" name="ADC气体处理"/>
          <p:cNvSpPr/>
          <p:nvPr/>
        </p:nvSpPr>
        <p:spPr>
          <a:xfrm>
            <a:off x="2457450" y="2152650"/>
            <a:ext cx="1809750" cy="55245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0" name="Text"/>
          <p:cNvSpPr/>
          <p:nvPr/>
        </p:nvSpPr>
        <p:spPr>
          <a:xfrm>
            <a:off x="2524125" y="220980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ADC气体处理</a:t>
            </a:r>
            <a:endParaRPr lang="zh-CN" sz="1450"/>
          </a:p>
        </p:txBody>
      </p:sp>
      <p:sp>
        <p:nvSpPr>
          <p:cNvPr id="21" name="Text"/>
          <p:cNvSpPr/>
          <p:nvPr/>
        </p:nvSpPr>
        <p:spPr>
          <a:xfrm>
            <a:off x="2524125" y="244792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浓度 + 超限边沿</a:t>
            </a:r>
            <a:endParaRPr lang="zh-CN" sz="1150"/>
          </a:p>
        </p:txBody>
      </p:sp>
      <p:cxnSp>
        <p:nvCxnSpPr>
          <p:cNvPr id="22" name="Line"/>
          <p:cNvCxnSpPr/>
          <p:nvPr/>
        </p:nvCxnSpPr>
        <p:spPr>
          <a:xfrm>
            <a:off x="1885950" y="2428875"/>
            <a:ext cx="571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23" name="血氧"/>
          <p:cNvSpPr/>
          <p:nvPr/>
        </p:nvSpPr>
        <p:spPr>
          <a:xfrm>
            <a:off x="457200" y="2895600"/>
            <a:ext cx="1428750" cy="552450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24" name="Text"/>
          <p:cNvSpPr/>
          <p:nvPr/>
        </p:nvSpPr>
        <p:spPr>
          <a:xfrm>
            <a:off x="523875" y="295275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血氧</a:t>
            </a:r>
            <a:endParaRPr lang="zh-CN" sz="1450"/>
          </a:p>
        </p:txBody>
      </p:sp>
      <p:sp>
        <p:nvSpPr>
          <p:cNvPr id="25" name="Text"/>
          <p:cNvSpPr/>
          <p:nvPr/>
        </p:nvSpPr>
        <p:spPr>
          <a:xfrm>
            <a:off x="523875" y="3190875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I2C采集/显示值</a:t>
            </a:r>
            <a:endParaRPr lang="zh-CN" sz="1150"/>
          </a:p>
        </p:txBody>
      </p:sp>
      <p:sp>
        <p:nvSpPr>
          <p:cNvPr id="26" name="血氧任务"/>
          <p:cNvSpPr/>
          <p:nvPr/>
        </p:nvSpPr>
        <p:spPr>
          <a:xfrm>
            <a:off x="2457450" y="2895600"/>
            <a:ext cx="1809750" cy="55245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7" name="Text"/>
          <p:cNvSpPr/>
          <p:nvPr/>
        </p:nvSpPr>
        <p:spPr>
          <a:xfrm>
            <a:off x="2524125" y="29527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血氧任务</a:t>
            </a:r>
            <a:endParaRPr lang="zh-CN" sz="1450"/>
          </a:p>
        </p:txBody>
      </p:sp>
      <p:sp>
        <p:nvSpPr>
          <p:cNvPr id="28" name="Text"/>
          <p:cNvSpPr/>
          <p:nvPr/>
        </p:nvSpPr>
        <p:spPr>
          <a:xfrm>
            <a:off x="2524125" y="319087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心率/血氧</a:t>
            </a:r>
            <a:endParaRPr lang="zh-CN" sz="1150"/>
          </a:p>
        </p:txBody>
      </p:sp>
      <p:cxnSp>
        <p:nvCxnSpPr>
          <p:cNvPr id="29" name="Line"/>
          <p:cNvCxnSpPr/>
          <p:nvPr/>
        </p:nvCxnSpPr>
        <p:spPr>
          <a:xfrm>
            <a:off x="1885950" y="3171825"/>
            <a:ext cx="571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30" name="触摸屏"/>
          <p:cNvSpPr/>
          <p:nvPr/>
        </p:nvSpPr>
        <p:spPr>
          <a:xfrm>
            <a:off x="457200" y="3638550"/>
            <a:ext cx="1428750" cy="552450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31" name="Text"/>
          <p:cNvSpPr/>
          <p:nvPr/>
        </p:nvSpPr>
        <p:spPr>
          <a:xfrm>
            <a:off x="523875" y="369570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触摸屏</a:t>
            </a:r>
            <a:endParaRPr lang="zh-CN" sz="1450"/>
          </a:p>
        </p:txBody>
      </p:sp>
      <p:sp>
        <p:nvSpPr>
          <p:cNvPr id="32" name="Text"/>
          <p:cNvSpPr/>
          <p:nvPr/>
        </p:nvSpPr>
        <p:spPr>
          <a:xfrm>
            <a:off x="523875" y="3933825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SPI触摸</a:t>
            </a:r>
            <a:endParaRPr lang="zh-CN" sz="1150"/>
          </a:p>
        </p:txBody>
      </p:sp>
      <p:sp>
        <p:nvSpPr>
          <p:cNvPr id="33" name="UI任务"/>
          <p:cNvSpPr/>
          <p:nvPr/>
        </p:nvSpPr>
        <p:spPr>
          <a:xfrm>
            <a:off x="2457450" y="3638550"/>
            <a:ext cx="1809750" cy="55245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34" name="Text"/>
          <p:cNvSpPr/>
          <p:nvPr/>
        </p:nvSpPr>
        <p:spPr>
          <a:xfrm>
            <a:off x="2524125" y="369570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UI任务</a:t>
            </a:r>
            <a:endParaRPr lang="zh-CN" sz="1450"/>
          </a:p>
        </p:txBody>
      </p:sp>
      <p:sp>
        <p:nvSpPr>
          <p:cNvPr id="35" name="Text"/>
          <p:cNvSpPr/>
          <p:nvPr/>
        </p:nvSpPr>
        <p:spPr>
          <a:xfrm>
            <a:off x="2524125" y="393382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返航/快捷命令</a:t>
            </a:r>
            <a:endParaRPr lang="zh-CN" sz="1150"/>
          </a:p>
        </p:txBody>
      </p:sp>
      <p:cxnSp>
        <p:nvCxnSpPr>
          <p:cNvPr id="36" name="Line"/>
          <p:cNvCxnSpPr/>
          <p:nvPr/>
        </p:nvCxnSpPr>
        <p:spPr>
          <a:xfrm>
            <a:off x="1885950" y="3914775"/>
            <a:ext cx="571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37" name="LoRa"/>
          <p:cNvSpPr/>
          <p:nvPr/>
        </p:nvSpPr>
        <p:spPr>
          <a:xfrm>
            <a:off x="457200" y="4381500"/>
            <a:ext cx="1428750" cy="552450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38" name="Text"/>
          <p:cNvSpPr/>
          <p:nvPr/>
        </p:nvSpPr>
        <p:spPr>
          <a:xfrm>
            <a:off x="523875" y="443865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</a:t>
            </a:r>
            <a:endParaRPr lang="zh-CN" sz="1450"/>
          </a:p>
        </p:txBody>
      </p:sp>
      <p:sp>
        <p:nvSpPr>
          <p:cNvPr id="39" name="Text"/>
          <p:cNvSpPr/>
          <p:nvPr/>
        </p:nvSpPr>
        <p:spPr>
          <a:xfrm>
            <a:off x="523875" y="4676775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DIO1中断</a:t>
            </a:r>
            <a:endParaRPr lang="zh-CN" sz="1150"/>
          </a:p>
        </p:txBody>
      </p:sp>
      <p:sp>
        <p:nvSpPr>
          <p:cNvPr id="40" name="LoRa任务"/>
          <p:cNvSpPr/>
          <p:nvPr/>
        </p:nvSpPr>
        <p:spPr>
          <a:xfrm>
            <a:off x="2457450" y="4381500"/>
            <a:ext cx="1809750" cy="55245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41" name="Text"/>
          <p:cNvSpPr/>
          <p:nvPr/>
        </p:nvSpPr>
        <p:spPr>
          <a:xfrm>
            <a:off x="2524125" y="44386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LoRa任务</a:t>
            </a:r>
            <a:endParaRPr lang="zh-CN" sz="1450"/>
          </a:p>
        </p:txBody>
      </p:sp>
      <p:sp>
        <p:nvSpPr>
          <p:cNvPr id="42" name="Text"/>
          <p:cNvSpPr/>
          <p:nvPr/>
        </p:nvSpPr>
        <p:spPr>
          <a:xfrm>
            <a:off x="2524125" y="467677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RX消息 / TX队列</a:t>
            </a:r>
            <a:endParaRPr lang="zh-CN" sz="1150"/>
          </a:p>
        </p:txBody>
      </p:sp>
      <p:cxnSp>
        <p:nvCxnSpPr>
          <p:cNvPr id="43" name="Line"/>
          <p:cNvCxnSpPr/>
          <p:nvPr/>
        </p:nvCxnSpPr>
        <p:spPr>
          <a:xfrm>
            <a:off x="1885950" y="4657725"/>
            <a:ext cx="571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44" name="Core"/>
          <p:cNvSpPr/>
          <p:nvPr/>
        </p:nvSpPr>
        <p:spPr>
          <a:xfrm>
            <a:off x="4953000" y="1581150"/>
            <a:ext cx="2857500" cy="2000250"/>
          </a:xfrm>
          <a:prstGeom prst="roundRect">
            <a:avLst/>
          </a:prstGeom>
          <a:solidFill>
            <a:srgbClr val="FFF7ED"/>
          </a:solidFill>
          <a:ln w="14288">
            <a:solidFill>
              <a:srgbClr val="F97316"/>
            </a:solidFill>
          </a:ln>
        </p:spPr>
        <p:txBody>
          <a:bodyPr/>
          <a:lstStyle/>
        </p:txBody>
      </p:sp>
      <p:sp>
        <p:nvSpPr>
          <p:cNvPr id="45" name="Text"/>
          <p:cNvSpPr/>
          <p:nvPr/>
        </p:nvSpPr>
        <p:spPr>
          <a:xfrm>
            <a:off x="5162550" y="175260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7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ControlTask + 全局状态</a:t>
            </a:r>
            <a:endParaRPr lang="zh-CN" sz="1700"/>
          </a:p>
        </p:txBody>
      </p:sp>
      <p:sp>
        <p:nvSpPr>
          <p:cNvPr id="46" name="Text"/>
          <p:cNvSpPr/>
          <p:nvPr/>
        </p:nvSpPr>
        <p:spPr>
          <a:xfrm>
            <a:off x="5219700" y="2143125"/>
            <a:ext cx="2324100" cy="9048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22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 / 航向 / 气体 / 生命体征</a:t>
            </a:r>
            <a:endParaRPr lang="zh-CN" sz="1220"/>
          </a:p>
          <a:p>
            <a:pPr marL="0" marR="0" indent="0" algn="ctr"/>
            <a:r>
              <a:rPr lang="zh-CN" sz="122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返航状态 / 弹窗事件 / 报警状态</a:t>
            </a:r>
            <a:endParaRPr lang="zh-CN" sz="1220"/>
          </a:p>
          <a:p>
            <a:pPr marL="0" marR="0" indent="0" algn="ctr"/>
            <a:r>
              <a:rPr lang="zh-CN" sz="12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统一累计、缓存、分发</a:t>
            </a:r>
            <a:endParaRPr lang="zh-CN" sz="1220"/>
          </a:p>
        </p:txBody>
      </p:sp>
      <p:sp>
        <p:nvSpPr>
          <p:cNvPr id="47" name="Text"/>
          <p:cNvSpPr/>
          <p:nvPr/>
        </p:nvSpPr>
        <p:spPr>
          <a:xfrm>
            <a:off x="5219700" y="3143250"/>
            <a:ext cx="23241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业务代码主要围绕这里读写状态</a:t>
            </a:r>
            <a:endParaRPr lang="zh-CN" sz="1150"/>
          </a:p>
        </p:txBody>
      </p:sp>
      <p:sp>
        <p:nvSpPr>
          <p:cNvPr id="48" name="Return"/>
          <p:cNvSpPr/>
          <p:nvPr/>
        </p:nvSpPr>
        <p:spPr>
          <a:xfrm>
            <a:off x="4953000" y="4114800"/>
            <a:ext cx="2857500" cy="819150"/>
          </a:xfrm>
          <a:prstGeom prst="roundRect">
            <a:avLst/>
          </a:prstGeom>
          <a:solidFill>
            <a:srgbClr val="FEF3C7"/>
          </a:solidFill>
          <a:ln w="13335">
            <a:solidFill>
              <a:srgbClr val="F59E0B"/>
            </a:solidFill>
          </a:ln>
        </p:spPr>
        <p:txBody>
          <a:bodyPr/>
          <a:lstStyle/>
        </p:txBody>
      </p:sp>
      <p:sp>
        <p:nvSpPr>
          <p:cNvPr id="49" name="Text"/>
          <p:cNvSpPr/>
          <p:nvPr/>
        </p:nvSpPr>
        <p:spPr>
          <a:xfrm>
            <a:off x="5191125" y="42481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返航建图与路径引导</a:t>
            </a:r>
            <a:endParaRPr lang="zh-CN" sz="1500"/>
          </a:p>
        </p:txBody>
      </p:sp>
      <p:sp>
        <p:nvSpPr>
          <p:cNvPr id="50" name="Text"/>
          <p:cNvSpPr/>
          <p:nvPr/>
        </p:nvSpPr>
        <p:spPr>
          <a:xfrm>
            <a:off x="5219700" y="457200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8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历史路径 → 下一段方向和距离</a:t>
            </a:r>
            <a:endParaRPr lang="zh-CN" sz="1180"/>
          </a:p>
        </p:txBody>
      </p:sp>
      <p:sp>
        <p:nvSpPr>
          <p:cNvPr id="51" name="主界面/弹窗"/>
          <p:cNvSpPr/>
          <p:nvPr/>
        </p:nvSpPr>
        <p:spPr>
          <a:xfrm>
            <a:off x="8782050" y="1371600"/>
            <a:ext cx="2095500" cy="552450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52" name="Text"/>
          <p:cNvSpPr/>
          <p:nvPr/>
        </p:nvSpPr>
        <p:spPr>
          <a:xfrm>
            <a:off x="8848725" y="1428750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主界面/弹窗</a:t>
            </a:r>
            <a:endParaRPr lang="zh-CN" sz="1450"/>
          </a:p>
        </p:txBody>
      </p:sp>
      <p:sp>
        <p:nvSpPr>
          <p:cNvPr id="53" name="Text"/>
          <p:cNvSpPr/>
          <p:nvPr/>
        </p:nvSpPr>
        <p:spPr>
          <a:xfrm>
            <a:off x="8848725" y="166687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数值刷新 + LoRa消息</a:t>
            </a:r>
            <a:endParaRPr lang="zh-CN" sz="1150"/>
          </a:p>
        </p:txBody>
      </p:sp>
      <p:sp>
        <p:nvSpPr>
          <p:cNvPr id="54" name="返航界面"/>
          <p:cNvSpPr/>
          <p:nvPr/>
        </p:nvSpPr>
        <p:spPr>
          <a:xfrm>
            <a:off x="8782050" y="2152650"/>
            <a:ext cx="2095500" cy="552450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55" name="Text"/>
          <p:cNvSpPr/>
          <p:nvPr/>
        </p:nvSpPr>
        <p:spPr>
          <a:xfrm>
            <a:off x="8848725" y="2209800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返航界面</a:t>
            </a:r>
            <a:endParaRPr lang="zh-CN" sz="1450"/>
          </a:p>
        </p:txBody>
      </p:sp>
      <p:sp>
        <p:nvSpPr>
          <p:cNvPr id="56" name="Text"/>
          <p:cNvSpPr/>
          <p:nvPr/>
        </p:nvSpPr>
        <p:spPr>
          <a:xfrm>
            <a:off x="8848725" y="244792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前进距离 + 左/右转</a:t>
            </a:r>
            <a:endParaRPr lang="zh-CN" sz="1150"/>
          </a:p>
        </p:txBody>
      </p:sp>
      <p:sp>
        <p:nvSpPr>
          <p:cNvPr id="57" name="LoRa上报"/>
          <p:cNvSpPr/>
          <p:nvPr/>
        </p:nvSpPr>
        <p:spPr>
          <a:xfrm>
            <a:off x="8782050" y="2933700"/>
            <a:ext cx="2095500" cy="552450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58" name="Text"/>
          <p:cNvSpPr/>
          <p:nvPr/>
        </p:nvSpPr>
        <p:spPr>
          <a:xfrm>
            <a:off x="8848725" y="2990850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LoRa上报</a:t>
            </a:r>
            <a:endParaRPr lang="zh-CN" sz="1450"/>
          </a:p>
        </p:txBody>
      </p:sp>
      <p:sp>
        <p:nvSpPr>
          <p:cNvPr id="59" name="Text"/>
          <p:cNvSpPr/>
          <p:nvPr/>
        </p:nvSpPr>
        <p:spPr>
          <a:xfrm>
            <a:off x="8848725" y="322897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x,y,z,yaw / 事件码</a:t>
            </a:r>
            <a:endParaRPr lang="zh-CN" sz="1150"/>
          </a:p>
        </p:txBody>
      </p:sp>
      <p:sp>
        <p:nvSpPr>
          <p:cNvPr id="60" name="蜂鸣器"/>
          <p:cNvSpPr/>
          <p:nvPr/>
        </p:nvSpPr>
        <p:spPr>
          <a:xfrm>
            <a:off x="8782050" y="3714750"/>
            <a:ext cx="2095500" cy="552450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61" name="Text"/>
          <p:cNvSpPr/>
          <p:nvPr/>
        </p:nvSpPr>
        <p:spPr>
          <a:xfrm>
            <a:off x="8848725" y="3771900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蜂鸣器</a:t>
            </a:r>
            <a:endParaRPr lang="zh-CN" sz="1450"/>
          </a:p>
        </p:txBody>
      </p:sp>
      <p:sp>
        <p:nvSpPr>
          <p:cNvPr id="62" name="Text"/>
          <p:cNvSpPr/>
          <p:nvPr/>
        </p:nvSpPr>
        <p:spPr>
          <a:xfrm>
            <a:off x="8848725" y="401002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消息双响 / 气体长响</a:t>
            </a:r>
            <a:endParaRPr lang="zh-CN" sz="1150"/>
          </a:p>
        </p:txBody>
      </p:sp>
      <p:sp>
        <p:nvSpPr>
          <p:cNvPr id="63" name="调试串口"/>
          <p:cNvSpPr/>
          <p:nvPr/>
        </p:nvSpPr>
        <p:spPr>
          <a:xfrm>
            <a:off x="8782050" y="4495800"/>
            <a:ext cx="2095500" cy="552450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64" name="Text"/>
          <p:cNvSpPr/>
          <p:nvPr/>
        </p:nvSpPr>
        <p:spPr>
          <a:xfrm>
            <a:off x="8848725" y="4552950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调试串口</a:t>
            </a:r>
            <a:endParaRPr lang="zh-CN" sz="1450"/>
          </a:p>
        </p:txBody>
      </p:sp>
      <p:sp>
        <p:nvSpPr>
          <p:cNvPr id="65" name="Text"/>
          <p:cNvSpPr/>
          <p:nvPr/>
        </p:nvSpPr>
        <p:spPr>
          <a:xfrm>
            <a:off x="8848725" y="479107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角度/日志按需输出</a:t>
            </a:r>
            <a:endParaRPr lang="zh-CN" sz="1150"/>
          </a:p>
        </p:txBody>
      </p:sp>
      <p:cxnSp>
        <p:nvCxnSpPr>
          <p:cNvPr id="66" name="Line"/>
          <p:cNvCxnSpPr/>
          <p:nvPr/>
        </p:nvCxnSpPr>
        <p:spPr>
          <a:xfrm>
            <a:off x="4267200" y="1685925"/>
            <a:ext cx="495300" cy="9525"/>
          </a:xfrm>
          <a:prstGeom prst="line">
            <a:avLst/>
          </a:prstGeom>
          <a:ln w="16669">
            <a:solidFill>
              <a:srgbClr val="334155"/>
            </a:solidFill>
            <a:headEnd type="triangle"/>
          </a:ln>
        </p:spPr>
      </p:cxnSp>
      <p:sp>
        <p:nvSpPr>
          <p:cNvPr id="67" name="Text"/>
          <p:cNvSpPr/>
          <p:nvPr/>
        </p:nvSpPr>
        <p:spPr>
          <a:xfrm>
            <a:off x="4152900" y="145732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位移/航向</a:t>
            </a:r>
            <a:endParaRPr lang="zh-CN" sz="960"/>
          </a:p>
        </p:txBody>
      </p:sp>
      <p:cxnSp>
        <p:nvCxnSpPr>
          <p:cNvPr id="68" name="Line"/>
          <p:cNvCxnSpPr/>
          <p:nvPr/>
        </p:nvCxnSpPr>
        <p:spPr>
          <a:xfrm>
            <a:off x="4267200" y="2428875"/>
            <a:ext cx="495300" cy="9525"/>
          </a:xfrm>
          <a:prstGeom prst="line">
            <a:avLst/>
          </a:prstGeom>
          <a:ln w="16669">
            <a:solidFill>
              <a:srgbClr val="334155"/>
            </a:solidFill>
            <a:headEnd type="triangle"/>
          </a:ln>
        </p:spPr>
      </p:cxnSp>
      <p:sp>
        <p:nvSpPr>
          <p:cNvPr id="69" name="Text"/>
          <p:cNvSpPr/>
          <p:nvPr/>
        </p:nvSpPr>
        <p:spPr>
          <a:xfrm>
            <a:off x="4152900" y="220027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浓度/报警</a:t>
            </a:r>
            <a:endParaRPr lang="zh-CN" sz="960"/>
          </a:p>
        </p:txBody>
      </p:sp>
      <p:cxnSp>
        <p:nvCxnSpPr>
          <p:cNvPr id="70" name="Line"/>
          <p:cNvCxnSpPr/>
          <p:nvPr/>
        </p:nvCxnSpPr>
        <p:spPr>
          <a:xfrm>
            <a:off x="4267200" y="3171825"/>
            <a:ext cx="495300" cy="9525"/>
          </a:xfrm>
          <a:prstGeom prst="line">
            <a:avLst/>
          </a:prstGeom>
          <a:ln w="16669">
            <a:solidFill>
              <a:srgbClr val="334155"/>
            </a:solidFill>
            <a:headEnd type="triangle"/>
          </a:ln>
        </p:spPr>
      </p:cxnSp>
      <p:sp>
        <p:nvSpPr>
          <p:cNvPr id="71" name="Text"/>
          <p:cNvSpPr/>
          <p:nvPr/>
        </p:nvSpPr>
        <p:spPr>
          <a:xfrm>
            <a:off x="4152900" y="294322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生命体征</a:t>
            </a:r>
            <a:endParaRPr lang="zh-CN" sz="960"/>
          </a:p>
        </p:txBody>
      </p:sp>
      <p:cxnSp>
        <p:nvCxnSpPr>
          <p:cNvPr id="72" name="Line"/>
          <p:cNvCxnSpPr/>
          <p:nvPr/>
        </p:nvCxnSpPr>
        <p:spPr>
          <a:xfrm>
            <a:off x="4267200" y="3914775"/>
            <a:ext cx="495300" cy="9525"/>
          </a:xfrm>
          <a:prstGeom prst="line">
            <a:avLst/>
          </a:prstGeom>
          <a:ln w="16669">
            <a:solidFill>
              <a:srgbClr val="334155"/>
            </a:solidFill>
            <a:headEnd type="triangle"/>
          </a:ln>
        </p:spPr>
      </p:cxnSp>
      <p:sp>
        <p:nvSpPr>
          <p:cNvPr id="73" name="Text"/>
          <p:cNvSpPr/>
          <p:nvPr/>
        </p:nvSpPr>
        <p:spPr>
          <a:xfrm>
            <a:off x="4152900" y="368617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用户命令</a:t>
            </a:r>
            <a:endParaRPr lang="zh-CN" sz="960"/>
          </a:p>
        </p:txBody>
      </p:sp>
      <p:cxnSp>
        <p:nvCxnSpPr>
          <p:cNvPr id="74" name="Line"/>
          <p:cNvCxnSpPr/>
          <p:nvPr/>
        </p:nvCxnSpPr>
        <p:spPr>
          <a:xfrm>
            <a:off x="4267200" y="4657725"/>
            <a:ext cx="495300" cy="9525"/>
          </a:xfrm>
          <a:prstGeom prst="line">
            <a:avLst/>
          </a:prstGeom>
          <a:ln w="16669">
            <a:solidFill>
              <a:srgbClr val="334155"/>
            </a:solidFill>
            <a:headEnd type="triangle"/>
          </a:ln>
        </p:spPr>
      </p:cxnSp>
      <p:sp>
        <p:nvSpPr>
          <p:cNvPr id="75" name="Text"/>
          <p:cNvSpPr/>
          <p:nvPr/>
        </p:nvSpPr>
        <p:spPr>
          <a:xfrm>
            <a:off x="4152900" y="442912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无线消息</a:t>
            </a:r>
            <a:endParaRPr lang="zh-CN" sz="960"/>
          </a:p>
        </p:txBody>
      </p:sp>
      <p:cxnSp>
        <p:nvCxnSpPr>
          <p:cNvPr id="76" name="Line"/>
          <p:cNvCxnSpPr/>
          <p:nvPr/>
        </p:nvCxnSpPr>
        <p:spPr>
          <a:xfrm>
            <a:off x="4762500" y="1685925"/>
            <a:ext cx="9525" cy="2971800"/>
          </a:xfrm>
          <a:prstGeom prst="line">
            <a:avLst/>
          </a:prstGeom>
          <a:ln w="13811">
            <a:solidFill>
              <a:srgbClr val="334155"/>
            </a:solidFill>
          </a:ln>
        </p:spPr>
      </p:cxnSp>
      <p:cxnSp>
        <p:nvCxnSpPr>
          <p:cNvPr id="77" name="Line"/>
          <p:cNvCxnSpPr/>
          <p:nvPr/>
        </p:nvCxnSpPr>
        <p:spPr>
          <a:xfrm>
            <a:off x="4762500" y="2581275"/>
            <a:ext cx="190500" cy="9525"/>
          </a:xfrm>
          <a:prstGeom prst="line">
            <a:avLst/>
          </a:prstGeom>
          <a:ln w="20002">
            <a:solidFill>
              <a:srgbClr val="334155"/>
            </a:solidFill>
            <a:headEnd type="triangle"/>
          </a:ln>
        </p:spPr>
      </p:cxnSp>
      <p:sp>
        <p:nvSpPr>
          <p:cNvPr id="78" name="Text"/>
          <p:cNvSpPr/>
          <p:nvPr/>
        </p:nvSpPr>
        <p:spPr>
          <a:xfrm>
            <a:off x="4514850" y="2352675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9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写入状态</a:t>
            </a:r>
            <a:endParaRPr lang="zh-CN" sz="980"/>
          </a:p>
        </p:txBody>
      </p:sp>
      <p:cxnSp>
        <p:nvCxnSpPr>
          <p:cNvPr id="79" name="Line"/>
          <p:cNvCxnSpPr/>
          <p:nvPr/>
        </p:nvCxnSpPr>
        <p:spPr>
          <a:xfrm flipV="1">
            <a:off x="7810500" y="1647825"/>
            <a:ext cx="971550" cy="219075"/>
          </a:xfrm>
          <a:prstGeom prst="line">
            <a:avLst/>
          </a:prstGeom>
          <a:ln w="18098">
            <a:solidFill>
              <a:srgbClr val="334155"/>
            </a:solidFill>
            <a:headEnd type="triangle"/>
          </a:ln>
        </p:spPr>
      </p:cxnSp>
      <p:sp>
        <p:nvSpPr>
          <p:cNvPr id="80" name="Text"/>
          <p:cNvSpPr/>
          <p:nvPr/>
        </p:nvSpPr>
        <p:spPr>
          <a:xfrm rot="20837573">
            <a:off x="7924995" y="1521075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状态快照</a:t>
            </a:r>
            <a:endParaRPr lang="zh-CN" sz="1080"/>
          </a:p>
        </p:txBody>
      </p:sp>
      <p:cxnSp>
        <p:nvCxnSpPr>
          <p:cNvPr id="81" name="Line"/>
          <p:cNvCxnSpPr/>
          <p:nvPr/>
        </p:nvCxnSpPr>
        <p:spPr>
          <a:xfrm flipV="1">
            <a:off x="7810500" y="2428875"/>
            <a:ext cx="971550" cy="47625"/>
          </a:xfrm>
          <a:prstGeom prst="line">
            <a:avLst/>
          </a:prstGeom>
          <a:ln w="18098">
            <a:solidFill>
              <a:srgbClr val="334155"/>
            </a:solidFill>
            <a:headEnd type="triangle"/>
          </a:ln>
        </p:spPr>
      </p:cxnSp>
      <p:sp>
        <p:nvSpPr>
          <p:cNvPr id="82" name="Text"/>
          <p:cNvSpPr/>
          <p:nvPr/>
        </p:nvSpPr>
        <p:spPr>
          <a:xfrm rot="21431618">
            <a:off x="7918652" y="2223295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引导数据</a:t>
            </a:r>
            <a:endParaRPr lang="zh-CN" sz="1080"/>
          </a:p>
        </p:txBody>
      </p:sp>
      <p:cxnSp>
        <p:nvCxnSpPr>
          <p:cNvPr id="83" name="Line"/>
          <p:cNvCxnSpPr/>
          <p:nvPr/>
        </p:nvCxnSpPr>
        <p:spPr>
          <a:xfrm>
            <a:off x="7810500" y="2952750"/>
            <a:ext cx="971550" cy="257175"/>
          </a:xfrm>
          <a:prstGeom prst="line">
            <a:avLst/>
          </a:prstGeom>
          <a:ln w="18098">
            <a:solidFill>
              <a:srgbClr val="334155"/>
            </a:solidFill>
            <a:headEnd type="triangle"/>
          </a:ln>
        </p:spPr>
      </p:cxnSp>
      <p:sp>
        <p:nvSpPr>
          <p:cNvPr id="84" name="Text"/>
          <p:cNvSpPr/>
          <p:nvPr/>
        </p:nvSpPr>
        <p:spPr>
          <a:xfrm rot="889589">
            <a:off x="7983610" y="2849049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导航事件</a:t>
            </a:r>
            <a:endParaRPr lang="zh-CN" sz="1080"/>
          </a:p>
        </p:txBody>
      </p:sp>
      <p:cxnSp>
        <p:nvCxnSpPr>
          <p:cNvPr id="85" name="Line"/>
          <p:cNvCxnSpPr/>
          <p:nvPr/>
        </p:nvCxnSpPr>
        <p:spPr>
          <a:xfrm>
            <a:off x="7810500" y="3190875"/>
            <a:ext cx="971550" cy="800100"/>
          </a:xfrm>
          <a:prstGeom prst="line">
            <a:avLst/>
          </a:prstGeom>
          <a:ln w="18098">
            <a:solidFill>
              <a:srgbClr val="334155"/>
            </a:solidFill>
            <a:headEnd type="triangle"/>
          </a:ln>
        </p:spPr>
      </p:cxnSp>
      <p:sp>
        <p:nvSpPr>
          <p:cNvPr id="86" name="Text"/>
          <p:cNvSpPr/>
          <p:nvPr/>
        </p:nvSpPr>
        <p:spPr>
          <a:xfrm rot="2368348">
            <a:off x="7989256" y="3354678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报警边沿</a:t>
            </a:r>
            <a:endParaRPr lang="zh-CN" sz="1080"/>
          </a:p>
        </p:txBody>
      </p:sp>
      <p:cxnSp>
        <p:nvCxnSpPr>
          <p:cNvPr id="87" name="Line"/>
          <p:cNvCxnSpPr/>
          <p:nvPr/>
        </p:nvCxnSpPr>
        <p:spPr>
          <a:xfrm>
            <a:off x="7810500" y="3371850"/>
            <a:ext cx="971550" cy="1400175"/>
          </a:xfrm>
          <a:prstGeom prst="line">
            <a:avLst/>
          </a:prstGeom>
          <a:ln w="18098">
            <a:solidFill>
              <a:srgbClr val="334155"/>
            </a:solidFill>
            <a:headEnd type="triangle"/>
          </a:ln>
        </p:spPr>
      </p:cxnSp>
      <p:sp>
        <p:nvSpPr>
          <p:cNvPr id="88" name="Text"/>
          <p:cNvSpPr/>
          <p:nvPr/>
        </p:nvSpPr>
        <p:spPr>
          <a:xfrm rot="3314645">
            <a:off x="7978603" y="3780935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调试信息</a:t>
            </a:r>
            <a:endParaRPr lang="zh-CN" sz="1080"/>
          </a:p>
        </p:txBody>
      </p:sp>
      <p:cxnSp>
        <p:nvCxnSpPr>
          <p:cNvPr id="89" name="Line"/>
          <p:cNvCxnSpPr/>
          <p:nvPr/>
        </p:nvCxnSpPr>
        <p:spPr>
          <a:xfrm>
            <a:off x="6381750" y="3581400"/>
            <a:ext cx="9525" cy="533400"/>
          </a:xfrm>
          <a:prstGeom prst="line">
            <a:avLst/>
          </a:prstGeom>
          <a:ln w="19050">
            <a:solidFill>
              <a:srgbClr val="F59E0B"/>
            </a:solidFill>
            <a:headEnd type="triangle"/>
          </a:ln>
        </p:spPr>
      </p:cxnSp>
      <p:sp>
        <p:nvSpPr>
          <p:cNvPr id="90" name="Text"/>
          <p:cNvSpPr/>
          <p:nvPr/>
        </p:nvSpPr>
        <p:spPr>
          <a:xfrm rot="5400000">
            <a:off x="6229350" y="3779520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返航启动</a:t>
            </a:r>
            <a:endParaRPr lang="zh-CN" sz="1080"/>
          </a:p>
        </p:txBody>
      </p:sp>
      <p:cxnSp>
        <p:nvCxnSpPr>
          <p:cNvPr id="91" name="Line"/>
          <p:cNvCxnSpPr/>
          <p:nvPr/>
        </p:nvCxnSpPr>
        <p:spPr>
          <a:xfrm>
            <a:off x="7810500" y="4524375"/>
            <a:ext cx="476250" cy="9525"/>
          </a:xfrm>
          <a:prstGeom prst="line">
            <a:avLst/>
          </a:prstGeom>
          <a:ln w="17145">
            <a:solidFill>
              <a:srgbClr val="F59E0B"/>
            </a:solidFill>
            <a:prstDash val="dash"/>
            <a:headEnd type="triangle"/>
          </a:ln>
        </p:spPr>
      </p:cxnSp>
      <p:cxnSp>
        <p:nvCxnSpPr>
          <p:cNvPr id="92" name="Line"/>
          <p:cNvCxnSpPr/>
          <p:nvPr/>
        </p:nvCxnSpPr>
        <p:spPr>
          <a:xfrm flipV="1">
            <a:off x="8286750" y="2428875"/>
            <a:ext cx="9525" cy="2095500"/>
          </a:xfrm>
          <a:prstGeom prst="line">
            <a:avLst/>
          </a:prstGeom>
          <a:ln w="17145">
            <a:solidFill>
              <a:srgbClr val="F59E0B"/>
            </a:solidFill>
            <a:prstDash val="dash"/>
            <a:headEnd type="triangle"/>
          </a:ln>
        </p:spPr>
      </p:cxnSp>
      <p:cxnSp>
        <p:nvCxnSpPr>
          <p:cNvPr id="93" name="Line"/>
          <p:cNvCxnSpPr/>
          <p:nvPr/>
        </p:nvCxnSpPr>
        <p:spPr>
          <a:xfrm>
            <a:off x="8286750" y="2428875"/>
            <a:ext cx="495300" cy="9525"/>
          </a:xfrm>
          <a:prstGeom prst="line">
            <a:avLst/>
          </a:prstGeom>
          <a:ln w="19050">
            <a:solidFill>
              <a:srgbClr val="F59E0B"/>
            </a:solidFill>
            <a:prstDash val="dash"/>
            <a:headEnd type="triangle"/>
          </a:ln>
        </p:spPr>
      </p:cxnSp>
      <p:sp>
        <p:nvSpPr>
          <p:cNvPr id="94" name="Text"/>
          <p:cNvSpPr/>
          <p:nvPr/>
        </p:nvSpPr>
        <p:spPr>
          <a:xfrm rot="16200000">
            <a:off x="7677150" y="3423285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方向/距离</a:t>
            </a:r>
            <a:endParaRPr lang="zh-CN" sz="1080"/>
          </a:p>
        </p:txBody>
      </p:sp>
      <p:cxnSp>
        <p:nvCxnSpPr>
          <p:cNvPr id="95" name="Line"/>
          <p:cNvCxnSpPr/>
          <p:nvPr/>
        </p:nvCxnSpPr>
        <p:spPr>
          <a:xfrm>
            <a:off x="9829800" y="4381500"/>
            <a:ext cx="9525" cy="762000"/>
          </a:xfrm>
          <a:prstGeom prst="line">
            <a:avLst/>
          </a:prstGeom>
          <a:ln w="17145">
            <a:solidFill>
              <a:srgbClr val="10B981"/>
            </a:solidFill>
            <a:prstDash val="dash"/>
            <a:headEnd type="triangle"/>
          </a:ln>
        </p:spPr>
      </p:cxnSp>
      <p:cxnSp>
        <p:nvCxnSpPr>
          <p:cNvPr id="96" name="Line"/>
          <p:cNvCxnSpPr/>
          <p:nvPr/>
        </p:nvCxnSpPr>
        <p:spPr>
          <a:xfrm flipH="1">
            <a:off x="6096000" y="5143500"/>
            <a:ext cx="3733800" cy="9525"/>
          </a:xfrm>
          <a:prstGeom prst="line">
            <a:avLst/>
          </a:prstGeom>
          <a:ln w="17145">
            <a:solidFill>
              <a:srgbClr val="10B981"/>
            </a:solidFill>
            <a:prstDash val="dash"/>
            <a:headEnd type="triangle"/>
          </a:ln>
        </p:spPr>
      </p:cxnSp>
      <p:cxnSp>
        <p:nvCxnSpPr>
          <p:cNvPr id="97" name="Line"/>
          <p:cNvCxnSpPr/>
          <p:nvPr/>
        </p:nvCxnSpPr>
        <p:spPr>
          <a:xfrm flipV="1">
            <a:off x="6096000" y="3581400"/>
            <a:ext cx="9525" cy="1562100"/>
          </a:xfrm>
          <a:prstGeom prst="line">
            <a:avLst/>
          </a:prstGeom>
          <a:ln w="19050">
            <a:solidFill>
              <a:srgbClr val="10B981"/>
            </a:solidFill>
            <a:prstDash val="dash"/>
            <a:headEnd type="triangle"/>
          </a:ln>
        </p:spPr>
      </p:cxnSp>
      <p:sp>
        <p:nvSpPr>
          <p:cNvPr id="98" name="Text"/>
          <p:cNvSpPr/>
          <p:nvPr/>
        </p:nvSpPr>
        <p:spPr>
          <a:xfrm>
            <a:off x="7507224" y="5191125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080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RX事件</a:t>
            </a:r>
            <a:endParaRPr lang="zh-CN" sz="1080"/>
          </a:p>
        </p:txBody>
      </p:sp>
      <p:sp>
        <p:nvSpPr>
          <p:cNvPr id="99" name="RTOS"/>
          <p:cNvSpPr/>
          <p:nvPr/>
        </p:nvSpPr>
        <p:spPr>
          <a:xfrm>
            <a:off x="742950" y="5619750"/>
            <a:ext cx="10287000" cy="51435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/>
          <a:lstStyle/>
        </p:txBody>
      </p:sp>
      <p:sp>
        <p:nvSpPr>
          <p:cNvPr id="100" name="Text"/>
          <p:cNvSpPr/>
          <p:nvPr/>
        </p:nvSpPr>
        <p:spPr>
          <a:xfrm>
            <a:off x="952500" y="5734050"/>
            <a:ext cx="9906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3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RTOS同步层：队列传递数据包，事件标志触发任务，互斥保护共享状态；图中只标关键业务流。</a:t>
            </a:r>
            <a:endParaRPr lang="zh-CN" sz="1320"/>
          </a:p>
        </p:txBody>
      </p:sp>
      <p:sp>
        <p:nvSpPr>
          <p:cNvPr id="101" name="Text"/>
          <p:cNvSpPr/>
          <p:nvPr/>
        </p:nvSpPr>
        <p:spPr>
          <a:xfrm>
            <a:off x="1714500" y="6286500"/>
            <a:ext cx="8763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mid" lIns="19050" rIns="19050" tIns="9525" bIns="9525"/>
          <a:lstStyle/>
          <a:p>
            <a:pPr marL="0" marR="0" indent="0" algn="ctr"/>
            <a:r>
              <a:rPr lang="zh-CN" sz="11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讲解建议：先讲主数据流，再按 IMU定位、UI交互、LoRa通信、返航引导四条支线展开。</a:t>
            </a:r>
            <a:endParaRPr lang="zh-CN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ITU">
  <a:themeElements>
    <a:clrScheme name="GUITU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7C3AED"/>
      </a:accent3>
      <a:accent4>
        <a:srgbClr val="EA580C"/>
      </a:accent4>
      <a:accent5>
        <a:srgbClr val="DC2626"/>
      </a:accent5>
      <a:accent6>
        <a:srgbClr val="0284C7"/>
      </a:accent6>
      <a:hlink>
        <a:srgbClr val="2563EB"/>
      </a:hlink>
      <a:folHlink>
        <a:srgbClr val="7C3AED"/>
      </a:folHlink>
    </a:clrScheme>
    <a:fontScheme name="GUITU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GUITU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系统数据流总览</dc:title>
  <dc:creator>Codex</dc:creator>
  <cp:lastModifiedBy>Codex</cp:lastModifiedBy>
</cp:coreProperties>
</file>