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 type="wide"/>
  <p:notesSz cx="6858000" cy="9144000"/>
  <p:defaultTextStyle>
    <a:defPPr>
      <a:defRPr lang="zh-CN">
        <a:latin typeface="Microsoft YaHei"/>
        <a:ea typeface="Microsoft YaHei"/>
      </a:defRPr>
    </a:defPPr>
  </p:defaultTextStyle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 w="11430">
            <a:solidFill>
              <a:srgbClr val="F8FAFC"/>
            </a:solidFill>
          </a:ln>
        </p:spPr>
        <p:txBody>
          <a:bodyPr/>
          <a:lstStyle/>
        </p:txBody>
      </p:sp>
      <p:sp>
        <p:nvSpPr>
          <p:cNvPr id="3" name="Text"/>
          <p:cNvSpPr/>
          <p:nvPr/>
        </p:nvSpPr>
        <p:spPr>
          <a:xfrm>
            <a:off x="495300" y="266700"/>
            <a:ext cx="4953000" cy="361950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l"/>
            <a:r>
              <a:rPr lang="zh-CN"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系统数据流总览</a:t>
            </a:r>
            <a:endParaRPr lang="zh-CN" sz="2500"/>
          </a:p>
        </p:txBody>
      </p:sp>
      <p:sp>
        <p:nvSpPr>
          <p:cNvPr id="4" name="Text"/>
          <p:cNvSpPr/>
          <p:nvPr/>
        </p:nvSpPr>
        <p:spPr>
          <a:xfrm>
            <a:off x="514350" y="647700"/>
            <a:ext cx="85725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l"/>
            <a:r>
              <a:rPr lang="zh-CN" sz="12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面向演示的简化数据流：外设输入经过任务处理，统一进入全局状态，再输出到显示、返航、LoRa和报警。</a:t>
            </a:r>
            <a:endParaRPr lang="zh-CN" sz="1250"/>
          </a:p>
        </p:txBody>
      </p:sp>
      <p:sp>
        <p:nvSpPr>
          <p:cNvPr id="5" name="Init"/>
          <p:cNvSpPr/>
          <p:nvPr/>
        </p:nvSpPr>
        <p:spPr>
          <a:xfrm>
            <a:off x="2286000" y="1009650"/>
            <a:ext cx="7620000" cy="40005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CBD5E1"/>
            </a:solidFill>
          </a:ln>
        </p:spPr>
        <p:txBody>
          <a:bodyPr/>
          <a:lstStyle/>
        </p:txBody>
      </p:sp>
      <p:sp>
        <p:nvSpPr>
          <p:cNvPr id="6" name="Text"/>
          <p:cNvSpPr/>
          <p:nvPr/>
        </p:nvSpPr>
        <p:spPr>
          <a:xfrm>
            <a:off x="2400300" y="1066800"/>
            <a:ext cx="7391400" cy="285750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初始化通过  →  创建队列/事件/任务  →  启动 FreeRTOS 调度</a:t>
            </a:r>
            <a:endParaRPr lang="zh-CN" sz="1400"/>
          </a:p>
        </p:txBody>
      </p:sp>
      <p:sp>
        <p:nvSpPr>
          <p:cNvPr id="7" name="外设输入"/>
          <p:cNvSpPr/>
          <p:nvPr/>
        </p:nvSpPr>
        <p:spPr>
          <a:xfrm>
            <a:off x="495300" y="1676400"/>
            <a:ext cx="1809750" cy="352425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0EA5E9"/>
            </a:solidFill>
          </a:ln>
        </p:spPr>
        <p:txBody>
          <a:bodyPr/>
          <a:lstStyle/>
        </p:txBody>
      </p:sp>
      <p:sp>
        <p:nvSpPr>
          <p:cNvPr id="8" name="Text"/>
          <p:cNvSpPr/>
          <p:nvPr/>
        </p:nvSpPr>
        <p:spPr>
          <a:xfrm>
            <a:off x="571500" y="1771650"/>
            <a:ext cx="16573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550" b="1">
                <a:solidFill>
                  <a:srgbClr val="0EA5E9"/>
                </a:solidFill>
                <a:latin typeface="Microsoft YaHei"/>
                <a:ea typeface="Microsoft YaHei"/>
                <a:cs typeface="Microsoft YaHei"/>
              </a:rPr>
              <a:t>外设输入</a:t>
            </a:r>
            <a:endParaRPr lang="zh-CN" sz="1550"/>
          </a:p>
        </p:txBody>
      </p:sp>
      <p:sp>
        <p:nvSpPr>
          <p:cNvPr id="9" name="IMU数据"/>
          <p:cNvSpPr/>
          <p:nvPr/>
        </p:nvSpPr>
        <p:spPr>
          <a:xfrm>
            <a:off x="666750" y="2171700"/>
            <a:ext cx="1466850" cy="409575"/>
          </a:xfrm>
          <a:prstGeom prst="roundRect">
            <a:avLst/>
          </a:prstGeom>
          <a:solidFill>
            <a:srgbClr val="E0F2FE"/>
          </a:solidFill>
          <a:ln w="11430">
            <a:solidFill>
              <a:srgbClr val="0EA5E9"/>
            </a:solidFill>
          </a:ln>
        </p:spPr>
        <p:txBody>
          <a:bodyPr/>
          <a:lstStyle/>
        </p:txBody>
      </p:sp>
      <p:sp>
        <p:nvSpPr>
          <p:cNvPr id="10" name="Text"/>
          <p:cNvSpPr/>
          <p:nvPr/>
        </p:nvSpPr>
        <p:spPr>
          <a:xfrm>
            <a:off x="723900" y="2219325"/>
            <a:ext cx="1352550" cy="314325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IMU数据</a:t>
            </a:r>
            <a:endParaRPr lang="zh-CN" sz="1300"/>
          </a:p>
        </p:txBody>
      </p:sp>
      <p:sp>
        <p:nvSpPr>
          <p:cNvPr id="11" name="气体采样"/>
          <p:cNvSpPr/>
          <p:nvPr/>
        </p:nvSpPr>
        <p:spPr>
          <a:xfrm>
            <a:off x="666750" y="2695575"/>
            <a:ext cx="1466850" cy="409575"/>
          </a:xfrm>
          <a:prstGeom prst="roundRect">
            <a:avLst/>
          </a:prstGeom>
          <a:solidFill>
            <a:srgbClr val="E0F2FE"/>
          </a:solidFill>
          <a:ln w="11430">
            <a:solidFill>
              <a:srgbClr val="0EA5E9"/>
            </a:solidFill>
          </a:ln>
        </p:spPr>
        <p:txBody>
          <a:bodyPr/>
          <a:lstStyle/>
        </p:txBody>
      </p:sp>
      <p:sp>
        <p:nvSpPr>
          <p:cNvPr id="12" name="Text"/>
          <p:cNvSpPr/>
          <p:nvPr/>
        </p:nvSpPr>
        <p:spPr>
          <a:xfrm>
            <a:off x="723900" y="2743200"/>
            <a:ext cx="1352550" cy="314325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气体采样</a:t>
            </a:r>
            <a:endParaRPr lang="zh-CN" sz="1300"/>
          </a:p>
        </p:txBody>
      </p:sp>
      <p:sp>
        <p:nvSpPr>
          <p:cNvPr id="13" name="血氧数据"/>
          <p:cNvSpPr/>
          <p:nvPr/>
        </p:nvSpPr>
        <p:spPr>
          <a:xfrm>
            <a:off x="666750" y="3219450"/>
            <a:ext cx="1466850" cy="409575"/>
          </a:xfrm>
          <a:prstGeom prst="roundRect">
            <a:avLst/>
          </a:prstGeom>
          <a:solidFill>
            <a:srgbClr val="E0F2FE"/>
          </a:solidFill>
          <a:ln w="11430">
            <a:solidFill>
              <a:srgbClr val="0EA5E9"/>
            </a:solidFill>
          </a:ln>
        </p:spPr>
        <p:txBody>
          <a:bodyPr/>
          <a:lstStyle/>
        </p:txBody>
      </p:sp>
      <p:sp>
        <p:nvSpPr>
          <p:cNvPr id="14" name="Text"/>
          <p:cNvSpPr/>
          <p:nvPr/>
        </p:nvSpPr>
        <p:spPr>
          <a:xfrm>
            <a:off x="723900" y="3267075"/>
            <a:ext cx="1352550" cy="314325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血氧数据</a:t>
            </a:r>
            <a:endParaRPr lang="zh-CN" sz="1300"/>
          </a:p>
        </p:txBody>
      </p:sp>
      <p:sp>
        <p:nvSpPr>
          <p:cNvPr id="15" name="触摸输入"/>
          <p:cNvSpPr/>
          <p:nvPr/>
        </p:nvSpPr>
        <p:spPr>
          <a:xfrm>
            <a:off x="666750" y="3743325"/>
            <a:ext cx="1466850" cy="409575"/>
          </a:xfrm>
          <a:prstGeom prst="roundRect">
            <a:avLst/>
          </a:prstGeom>
          <a:solidFill>
            <a:srgbClr val="E0F2FE"/>
          </a:solidFill>
          <a:ln w="11430">
            <a:solidFill>
              <a:srgbClr val="0EA5E9"/>
            </a:solidFill>
          </a:ln>
        </p:spPr>
        <p:txBody>
          <a:bodyPr/>
          <a:lstStyle/>
        </p:txBody>
      </p:sp>
      <p:sp>
        <p:nvSpPr>
          <p:cNvPr id="16" name="Text"/>
          <p:cNvSpPr/>
          <p:nvPr/>
        </p:nvSpPr>
        <p:spPr>
          <a:xfrm>
            <a:off x="723900" y="3790950"/>
            <a:ext cx="1352550" cy="314325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触摸输入</a:t>
            </a:r>
            <a:endParaRPr lang="zh-CN" sz="1300"/>
          </a:p>
        </p:txBody>
      </p:sp>
      <p:sp>
        <p:nvSpPr>
          <p:cNvPr id="17" name="LoRa接收"/>
          <p:cNvSpPr/>
          <p:nvPr/>
        </p:nvSpPr>
        <p:spPr>
          <a:xfrm>
            <a:off x="666750" y="4267200"/>
            <a:ext cx="1466850" cy="409575"/>
          </a:xfrm>
          <a:prstGeom prst="roundRect">
            <a:avLst/>
          </a:prstGeom>
          <a:solidFill>
            <a:srgbClr val="E0F2FE"/>
          </a:solidFill>
          <a:ln w="11430">
            <a:solidFill>
              <a:srgbClr val="0EA5E9"/>
            </a:solidFill>
          </a:ln>
        </p:spPr>
        <p:txBody>
          <a:bodyPr/>
          <a:lstStyle/>
        </p:txBody>
      </p:sp>
      <p:sp>
        <p:nvSpPr>
          <p:cNvPr id="18" name="Text"/>
          <p:cNvSpPr/>
          <p:nvPr/>
        </p:nvSpPr>
        <p:spPr>
          <a:xfrm>
            <a:off x="723900" y="4314825"/>
            <a:ext cx="1352550" cy="314325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LoRa接收</a:t>
            </a:r>
            <a:endParaRPr lang="zh-CN" sz="1300"/>
          </a:p>
        </p:txBody>
      </p:sp>
      <p:sp>
        <p:nvSpPr>
          <p:cNvPr id="19" name="任务处理"/>
          <p:cNvSpPr/>
          <p:nvPr/>
        </p:nvSpPr>
        <p:spPr>
          <a:xfrm>
            <a:off x="2800350" y="1676400"/>
            <a:ext cx="1943100" cy="352425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8B5CF6"/>
            </a:solidFill>
          </a:ln>
        </p:spPr>
        <p:txBody>
          <a:bodyPr/>
          <a:lstStyle/>
        </p:txBody>
      </p:sp>
      <p:sp>
        <p:nvSpPr>
          <p:cNvPr id="20" name="Text"/>
          <p:cNvSpPr/>
          <p:nvPr/>
        </p:nvSpPr>
        <p:spPr>
          <a:xfrm>
            <a:off x="2876550" y="1771650"/>
            <a:ext cx="1790700" cy="266700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550" b="1">
                <a:solidFill>
                  <a:srgbClr val="8B5CF6"/>
                </a:solidFill>
                <a:latin typeface="Microsoft YaHei"/>
                <a:ea typeface="Microsoft YaHei"/>
                <a:cs typeface="Microsoft YaHei"/>
              </a:rPr>
              <a:t>任务处理</a:t>
            </a:r>
            <a:endParaRPr lang="zh-CN" sz="1550"/>
          </a:p>
        </p:txBody>
      </p:sp>
      <p:sp>
        <p:nvSpPr>
          <p:cNvPr id="21" name="姿态与步态"/>
          <p:cNvSpPr/>
          <p:nvPr/>
        </p:nvSpPr>
        <p:spPr>
          <a:xfrm>
            <a:off x="2971800" y="2171700"/>
            <a:ext cx="1600200" cy="409575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8B5CF6"/>
            </a:solidFill>
          </a:ln>
        </p:spPr>
        <p:txBody>
          <a:bodyPr/>
          <a:lstStyle/>
        </p:txBody>
      </p:sp>
      <p:sp>
        <p:nvSpPr>
          <p:cNvPr id="22" name="Text"/>
          <p:cNvSpPr/>
          <p:nvPr/>
        </p:nvSpPr>
        <p:spPr>
          <a:xfrm>
            <a:off x="3028950" y="2219325"/>
            <a:ext cx="1485900" cy="314325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姿态与步态</a:t>
            </a:r>
            <a:endParaRPr lang="zh-CN" sz="1300"/>
          </a:p>
        </p:txBody>
      </p:sp>
      <p:sp>
        <p:nvSpPr>
          <p:cNvPr id="23" name="ADC气体处理"/>
          <p:cNvSpPr/>
          <p:nvPr/>
        </p:nvSpPr>
        <p:spPr>
          <a:xfrm>
            <a:off x="2971800" y="2695575"/>
            <a:ext cx="1600200" cy="409575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8B5CF6"/>
            </a:solidFill>
          </a:ln>
        </p:spPr>
        <p:txBody>
          <a:bodyPr/>
          <a:lstStyle/>
        </p:txBody>
      </p:sp>
      <p:sp>
        <p:nvSpPr>
          <p:cNvPr id="24" name="Text"/>
          <p:cNvSpPr/>
          <p:nvPr/>
        </p:nvSpPr>
        <p:spPr>
          <a:xfrm>
            <a:off x="3028950" y="2743200"/>
            <a:ext cx="1485900" cy="314325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ADC气体处理</a:t>
            </a:r>
            <a:endParaRPr lang="zh-CN" sz="1300"/>
          </a:p>
        </p:txBody>
      </p:sp>
      <p:sp>
        <p:nvSpPr>
          <p:cNvPr id="25" name="血氧任务"/>
          <p:cNvSpPr/>
          <p:nvPr/>
        </p:nvSpPr>
        <p:spPr>
          <a:xfrm>
            <a:off x="2971800" y="3219450"/>
            <a:ext cx="1600200" cy="409575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8B5CF6"/>
            </a:solidFill>
          </a:ln>
        </p:spPr>
        <p:txBody>
          <a:bodyPr/>
          <a:lstStyle/>
        </p:txBody>
      </p:sp>
      <p:sp>
        <p:nvSpPr>
          <p:cNvPr id="26" name="Text"/>
          <p:cNvSpPr/>
          <p:nvPr/>
        </p:nvSpPr>
        <p:spPr>
          <a:xfrm>
            <a:off x="3028950" y="3267075"/>
            <a:ext cx="1485900" cy="314325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血氧任务</a:t>
            </a:r>
            <a:endParaRPr lang="zh-CN" sz="1300"/>
          </a:p>
        </p:txBody>
      </p:sp>
      <p:sp>
        <p:nvSpPr>
          <p:cNvPr id="27" name="UI任务"/>
          <p:cNvSpPr/>
          <p:nvPr/>
        </p:nvSpPr>
        <p:spPr>
          <a:xfrm>
            <a:off x="2971800" y="3743325"/>
            <a:ext cx="1600200" cy="409575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8B5CF6"/>
            </a:solidFill>
          </a:ln>
        </p:spPr>
        <p:txBody>
          <a:bodyPr/>
          <a:lstStyle/>
        </p:txBody>
      </p:sp>
      <p:sp>
        <p:nvSpPr>
          <p:cNvPr id="28" name="Text"/>
          <p:cNvSpPr/>
          <p:nvPr/>
        </p:nvSpPr>
        <p:spPr>
          <a:xfrm>
            <a:off x="3028950" y="3790950"/>
            <a:ext cx="1485900" cy="314325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UI任务</a:t>
            </a:r>
            <a:endParaRPr lang="zh-CN" sz="1300"/>
          </a:p>
        </p:txBody>
      </p:sp>
      <p:sp>
        <p:nvSpPr>
          <p:cNvPr id="29" name="LoRa任务"/>
          <p:cNvSpPr/>
          <p:nvPr/>
        </p:nvSpPr>
        <p:spPr>
          <a:xfrm>
            <a:off x="2971800" y="4267200"/>
            <a:ext cx="1600200" cy="409575"/>
          </a:xfrm>
          <a:prstGeom prst="roundRect">
            <a:avLst/>
          </a:prstGeom>
          <a:solidFill>
            <a:srgbClr val="F3E8FF"/>
          </a:solidFill>
          <a:ln w="11430">
            <a:solidFill>
              <a:srgbClr val="8B5CF6"/>
            </a:solidFill>
          </a:ln>
        </p:spPr>
        <p:txBody>
          <a:bodyPr/>
          <a:lstStyle/>
        </p:txBody>
      </p:sp>
      <p:sp>
        <p:nvSpPr>
          <p:cNvPr id="30" name="Text"/>
          <p:cNvSpPr/>
          <p:nvPr/>
        </p:nvSpPr>
        <p:spPr>
          <a:xfrm>
            <a:off x="3028950" y="4314825"/>
            <a:ext cx="1485900" cy="314325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LoRa任务</a:t>
            </a:r>
            <a:endParaRPr lang="zh-CN" sz="1300"/>
          </a:p>
        </p:txBody>
      </p:sp>
      <p:sp>
        <p:nvSpPr>
          <p:cNvPr id="31" name="Core"/>
          <p:cNvSpPr/>
          <p:nvPr/>
        </p:nvSpPr>
        <p:spPr>
          <a:xfrm>
            <a:off x="5257800" y="2095500"/>
            <a:ext cx="2857500" cy="1381125"/>
          </a:xfrm>
          <a:prstGeom prst="roundRect">
            <a:avLst/>
          </a:prstGeom>
          <a:solidFill>
            <a:srgbClr val="FFF7ED"/>
          </a:solidFill>
          <a:ln w="11430">
            <a:solidFill>
              <a:srgbClr val="F97316"/>
            </a:solidFill>
          </a:ln>
        </p:spPr>
        <p:txBody>
          <a:bodyPr/>
          <a:lstStyle/>
        </p:txBody>
      </p:sp>
      <p:sp>
        <p:nvSpPr>
          <p:cNvPr id="32" name="Text"/>
          <p:cNvSpPr/>
          <p:nvPr/>
        </p:nvSpPr>
        <p:spPr>
          <a:xfrm>
            <a:off x="5429250" y="2266950"/>
            <a:ext cx="2514600" cy="323850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700" b="1">
                <a:solidFill>
                  <a:srgbClr val="F97316"/>
                </a:solidFill>
                <a:latin typeface="Microsoft YaHei"/>
                <a:ea typeface="Microsoft YaHei"/>
                <a:cs typeface="Microsoft YaHei"/>
              </a:rPr>
              <a:t>控制中心 / 全局状态</a:t>
            </a:r>
            <a:endParaRPr lang="zh-CN" sz="1700"/>
          </a:p>
        </p:txBody>
      </p:sp>
      <p:sp>
        <p:nvSpPr>
          <p:cNvPr id="33" name="Text"/>
          <p:cNvSpPr/>
          <p:nvPr/>
        </p:nvSpPr>
        <p:spPr>
          <a:xfrm>
            <a:off x="5505450" y="2724150"/>
            <a:ext cx="2362200" cy="514350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2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累计位置、航向和环境数据</a:t>
            </a:r>
            <a:endParaRPr lang="zh-CN" sz="1250"/>
          </a:p>
          <a:p>
            <a:pPr marL="0" marR="0" indent="0" algn="ctr"/>
            <a:r>
              <a:rPr lang="zh-CN" sz="12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分发用户命令与返航状态</a:t>
            </a:r>
            <a:endParaRPr lang="zh-CN" sz="1250"/>
          </a:p>
        </p:txBody>
      </p:sp>
      <p:sp>
        <p:nvSpPr>
          <p:cNvPr id="34" name="ReturnAlgorithm"/>
          <p:cNvSpPr/>
          <p:nvPr/>
        </p:nvSpPr>
        <p:spPr>
          <a:xfrm>
            <a:off x="5391150" y="4038600"/>
            <a:ext cx="2590800" cy="857250"/>
          </a:xfrm>
          <a:prstGeom prst="roundRect">
            <a:avLst/>
          </a:prstGeom>
          <a:solidFill>
            <a:srgbClr val="FEF3C7"/>
          </a:solidFill>
          <a:ln w="11430">
            <a:solidFill>
              <a:srgbClr val="F59E0B"/>
            </a:solidFill>
          </a:ln>
        </p:spPr>
        <p:txBody>
          <a:bodyPr/>
          <a:lstStyle/>
        </p:txBody>
      </p:sp>
      <p:sp>
        <p:nvSpPr>
          <p:cNvPr id="35" name="Text"/>
          <p:cNvSpPr/>
          <p:nvPr/>
        </p:nvSpPr>
        <p:spPr>
          <a:xfrm>
            <a:off x="5543550" y="4181475"/>
            <a:ext cx="2286000" cy="247650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500" b="1">
                <a:solidFill>
                  <a:srgbClr val="F59E0B"/>
                </a:solidFill>
                <a:latin typeface="Microsoft YaHei"/>
                <a:ea typeface="Microsoft YaHei"/>
                <a:cs typeface="Microsoft YaHei"/>
              </a:rPr>
              <a:t>返航建图与路径引导</a:t>
            </a:r>
            <a:endParaRPr lang="zh-CN" sz="1500"/>
          </a:p>
        </p:txBody>
      </p:sp>
      <p:sp>
        <p:nvSpPr>
          <p:cNvPr id="36" name="Text"/>
          <p:cNvSpPr/>
          <p:nvPr/>
        </p:nvSpPr>
        <p:spPr>
          <a:xfrm>
            <a:off x="5600700" y="4533900"/>
            <a:ext cx="21717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150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根据历史路径生成方向和距离</a:t>
            </a:r>
            <a:endParaRPr lang="zh-CN" sz="1150"/>
          </a:p>
        </p:txBody>
      </p:sp>
      <p:sp>
        <p:nvSpPr>
          <p:cNvPr id="37" name="输出与反馈"/>
          <p:cNvSpPr/>
          <p:nvPr/>
        </p:nvSpPr>
        <p:spPr>
          <a:xfrm>
            <a:off x="8629650" y="1676400"/>
            <a:ext cx="2076450" cy="3524250"/>
          </a:xfrm>
          <a:prstGeom prst="roundRect">
            <a:avLst/>
          </a:prstGeom>
          <a:solidFill>
            <a:srgbClr val="FFFFFF"/>
          </a:solidFill>
          <a:ln w="11430">
            <a:solidFill>
              <a:srgbClr val="EF4444"/>
            </a:solidFill>
          </a:ln>
        </p:spPr>
        <p:txBody>
          <a:bodyPr/>
          <a:lstStyle/>
        </p:txBody>
      </p:sp>
      <p:sp>
        <p:nvSpPr>
          <p:cNvPr id="38" name="Text"/>
          <p:cNvSpPr/>
          <p:nvPr/>
        </p:nvSpPr>
        <p:spPr>
          <a:xfrm>
            <a:off x="8705850" y="1771650"/>
            <a:ext cx="1924050" cy="266700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550" b="1">
                <a:solidFill>
                  <a:srgbClr val="EF4444"/>
                </a:solidFill>
                <a:latin typeface="Microsoft YaHei"/>
                <a:ea typeface="Microsoft YaHei"/>
                <a:cs typeface="Microsoft YaHei"/>
              </a:rPr>
              <a:t>输出与反馈</a:t>
            </a:r>
            <a:endParaRPr lang="zh-CN" sz="1550"/>
          </a:p>
        </p:txBody>
      </p:sp>
      <p:sp>
        <p:nvSpPr>
          <p:cNvPr id="39" name="主界面显示"/>
          <p:cNvSpPr/>
          <p:nvPr/>
        </p:nvSpPr>
        <p:spPr>
          <a:xfrm>
            <a:off x="8801100" y="2171700"/>
            <a:ext cx="1733550" cy="409575"/>
          </a:xfrm>
          <a:prstGeom prst="roundRect">
            <a:avLst/>
          </a:prstGeom>
          <a:solidFill>
            <a:srgbClr val="FEE2E2"/>
          </a:solidFill>
          <a:ln w="11430">
            <a:solidFill>
              <a:srgbClr val="EF4444"/>
            </a:solidFill>
          </a:ln>
        </p:spPr>
        <p:txBody>
          <a:bodyPr/>
          <a:lstStyle/>
        </p:txBody>
      </p:sp>
      <p:sp>
        <p:nvSpPr>
          <p:cNvPr id="40" name="Text"/>
          <p:cNvSpPr/>
          <p:nvPr/>
        </p:nvSpPr>
        <p:spPr>
          <a:xfrm>
            <a:off x="8858250" y="2219325"/>
            <a:ext cx="1619250" cy="314325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主界面显示</a:t>
            </a:r>
            <a:endParaRPr lang="zh-CN" sz="1300"/>
          </a:p>
        </p:txBody>
      </p:sp>
      <p:sp>
        <p:nvSpPr>
          <p:cNvPr id="41" name="返航引导"/>
          <p:cNvSpPr/>
          <p:nvPr/>
        </p:nvSpPr>
        <p:spPr>
          <a:xfrm>
            <a:off x="8801100" y="2695575"/>
            <a:ext cx="1733550" cy="409575"/>
          </a:xfrm>
          <a:prstGeom prst="roundRect">
            <a:avLst/>
          </a:prstGeom>
          <a:solidFill>
            <a:srgbClr val="FEE2E2"/>
          </a:solidFill>
          <a:ln w="11430">
            <a:solidFill>
              <a:srgbClr val="EF4444"/>
            </a:solidFill>
          </a:ln>
        </p:spPr>
        <p:txBody>
          <a:bodyPr/>
          <a:lstStyle/>
        </p:txBody>
      </p:sp>
      <p:sp>
        <p:nvSpPr>
          <p:cNvPr id="42" name="Text"/>
          <p:cNvSpPr/>
          <p:nvPr/>
        </p:nvSpPr>
        <p:spPr>
          <a:xfrm>
            <a:off x="8858250" y="2743200"/>
            <a:ext cx="1619250" cy="314325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返航引导</a:t>
            </a:r>
            <a:endParaRPr lang="zh-CN" sz="1300"/>
          </a:p>
        </p:txBody>
      </p:sp>
      <p:sp>
        <p:nvSpPr>
          <p:cNvPr id="43" name="LoRa上报"/>
          <p:cNvSpPr/>
          <p:nvPr/>
        </p:nvSpPr>
        <p:spPr>
          <a:xfrm>
            <a:off x="8801100" y="3219450"/>
            <a:ext cx="1733550" cy="409575"/>
          </a:xfrm>
          <a:prstGeom prst="roundRect">
            <a:avLst/>
          </a:prstGeom>
          <a:solidFill>
            <a:srgbClr val="FEE2E2"/>
          </a:solidFill>
          <a:ln w="11430">
            <a:solidFill>
              <a:srgbClr val="EF4444"/>
            </a:solidFill>
          </a:ln>
        </p:spPr>
        <p:txBody>
          <a:bodyPr/>
          <a:lstStyle/>
        </p:txBody>
      </p:sp>
      <p:sp>
        <p:nvSpPr>
          <p:cNvPr id="44" name="Text"/>
          <p:cNvSpPr/>
          <p:nvPr/>
        </p:nvSpPr>
        <p:spPr>
          <a:xfrm>
            <a:off x="8858250" y="3267075"/>
            <a:ext cx="1619250" cy="314325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LoRa上报</a:t>
            </a:r>
            <a:endParaRPr lang="zh-CN" sz="1300"/>
          </a:p>
        </p:txBody>
      </p:sp>
      <p:sp>
        <p:nvSpPr>
          <p:cNvPr id="45" name="蜂鸣器报警"/>
          <p:cNvSpPr/>
          <p:nvPr/>
        </p:nvSpPr>
        <p:spPr>
          <a:xfrm>
            <a:off x="8801100" y="3743325"/>
            <a:ext cx="1733550" cy="409575"/>
          </a:xfrm>
          <a:prstGeom prst="roundRect">
            <a:avLst/>
          </a:prstGeom>
          <a:solidFill>
            <a:srgbClr val="FEE2E2"/>
          </a:solidFill>
          <a:ln w="11430">
            <a:solidFill>
              <a:srgbClr val="EF4444"/>
            </a:solidFill>
          </a:ln>
        </p:spPr>
        <p:txBody>
          <a:bodyPr/>
          <a:lstStyle/>
        </p:txBody>
      </p:sp>
      <p:sp>
        <p:nvSpPr>
          <p:cNvPr id="46" name="Text"/>
          <p:cNvSpPr/>
          <p:nvPr/>
        </p:nvSpPr>
        <p:spPr>
          <a:xfrm>
            <a:off x="8858250" y="3790950"/>
            <a:ext cx="1619250" cy="314325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蜂鸣器报警</a:t>
            </a:r>
            <a:endParaRPr lang="zh-CN" sz="1300"/>
          </a:p>
        </p:txBody>
      </p:sp>
      <p:sp>
        <p:nvSpPr>
          <p:cNvPr id="47" name="调试串口"/>
          <p:cNvSpPr/>
          <p:nvPr/>
        </p:nvSpPr>
        <p:spPr>
          <a:xfrm>
            <a:off x="8801100" y="4267200"/>
            <a:ext cx="1733550" cy="409575"/>
          </a:xfrm>
          <a:prstGeom prst="roundRect">
            <a:avLst/>
          </a:prstGeom>
          <a:solidFill>
            <a:srgbClr val="FEE2E2"/>
          </a:solidFill>
          <a:ln w="11430">
            <a:solidFill>
              <a:srgbClr val="EF4444"/>
            </a:solidFill>
          </a:ln>
        </p:spPr>
        <p:txBody>
          <a:bodyPr/>
          <a:lstStyle/>
        </p:txBody>
      </p:sp>
      <p:sp>
        <p:nvSpPr>
          <p:cNvPr id="48" name="Text"/>
          <p:cNvSpPr/>
          <p:nvPr/>
        </p:nvSpPr>
        <p:spPr>
          <a:xfrm>
            <a:off x="8858250" y="4314825"/>
            <a:ext cx="1619250" cy="314325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调试串口</a:t>
            </a:r>
            <a:endParaRPr lang="zh-CN" sz="1300"/>
          </a:p>
        </p:txBody>
      </p:sp>
      <p:cxnSp>
        <p:nvCxnSpPr>
          <p:cNvPr id="49" name="Arrow"/>
          <p:cNvCxnSpPr/>
          <p:nvPr/>
        </p:nvCxnSpPr>
        <p:spPr>
          <a:xfrm>
            <a:off x="2305050" y="3438525"/>
            <a:ext cx="495300" cy="9525"/>
          </a:xfrm>
          <a:prstGeom prst="line">
            <a:avLst/>
          </a:prstGeom>
          <a:ln w="22860">
            <a:solidFill>
              <a:srgbClr val="475569"/>
            </a:solidFill>
            <a:headEnd type="triangle"/>
          </a:ln>
        </p:spPr>
      </p:cxnSp>
      <p:cxnSp>
        <p:nvCxnSpPr>
          <p:cNvPr id="50" name="Arrow"/>
          <p:cNvCxnSpPr/>
          <p:nvPr/>
        </p:nvCxnSpPr>
        <p:spPr>
          <a:xfrm flipV="1">
            <a:off x="4743450" y="2781300"/>
            <a:ext cx="514350" cy="657225"/>
          </a:xfrm>
          <a:prstGeom prst="line">
            <a:avLst/>
          </a:prstGeom>
          <a:ln w="22860">
            <a:solidFill>
              <a:srgbClr val="475569"/>
            </a:solidFill>
            <a:headEnd type="triangle"/>
          </a:ln>
        </p:spPr>
      </p:cxnSp>
      <p:cxnSp>
        <p:nvCxnSpPr>
          <p:cNvPr id="51" name="Arrow"/>
          <p:cNvCxnSpPr/>
          <p:nvPr/>
        </p:nvCxnSpPr>
        <p:spPr>
          <a:xfrm>
            <a:off x="8115300" y="2781300"/>
            <a:ext cx="514350" cy="657225"/>
          </a:xfrm>
          <a:prstGeom prst="line">
            <a:avLst/>
          </a:prstGeom>
          <a:ln w="22860">
            <a:solidFill>
              <a:srgbClr val="475569"/>
            </a:solidFill>
            <a:headEnd type="triangle"/>
          </a:ln>
        </p:spPr>
      </p:cxnSp>
      <p:cxnSp>
        <p:nvCxnSpPr>
          <p:cNvPr id="52" name="Arrow"/>
          <p:cNvCxnSpPr/>
          <p:nvPr/>
        </p:nvCxnSpPr>
        <p:spPr>
          <a:xfrm>
            <a:off x="6705600" y="3476625"/>
            <a:ext cx="9525" cy="561975"/>
          </a:xfrm>
          <a:prstGeom prst="line">
            <a:avLst/>
          </a:prstGeom>
          <a:ln w="22860">
            <a:solidFill>
              <a:srgbClr val="F59E0B"/>
            </a:solidFill>
            <a:headEnd type="triangle"/>
          </a:ln>
        </p:spPr>
      </p:cxnSp>
      <p:cxnSp>
        <p:nvCxnSpPr>
          <p:cNvPr id="53" name="Arrow"/>
          <p:cNvCxnSpPr/>
          <p:nvPr/>
        </p:nvCxnSpPr>
        <p:spPr>
          <a:xfrm flipV="1">
            <a:off x="7981950" y="3943350"/>
            <a:ext cx="647700" cy="523875"/>
          </a:xfrm>
          <a:prstGeom prst="line">
            <a:avLst/>
          </a:prstGeom>
          <a:ln w="22860">
            <a:solidFill>
              <a:srgbClr val="F59E0B"/>
            </a:solidFill>
            <a:prstDash val="dash"/>
            <a:headEnd type="triangle"/>
          </a:ln>
        </p:spPr>
      </p:cxnSp>
      <p:sp>
        <p:nvSpPr>
          <p:cNvPr id="54" name="Text"/>
          <p:cNvSpPr/>
          <p:nvPr/>
        </p:nvSpPr>
        <p:spPr>
          <a:xfrm>
            <a:off x="714375" y="5572125"/>
            <a:ext cx="10763250" cy="419100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主数据流：外设采集 → 任务处理 → 控制中心/全局状态 → UI显示、返航引导、LoRa上报、蜂鸣器报警</a:t>
            </a:r>
            <a:endParaRPr lang="zh-CN" sz="1400"/>
          </a:p>
        </p:txBody>
      </p:sp>
      <p:sp>
        <p:nvSpPr>
          <p:cNvPr id="55" name="Text"/>
          <p:cNvSpPr/>
          <p:nvPr/>
        </p:nvSpPr>
        <p:spPr>
          <a:xfrm>
            <a:off x="1524000" y="6096000"/>
            <a:ext cx="9144000" cy="228600"/>
          </a:xfrm>
          <a:prstGeom prst="rect">
            <a:avLst/>
          </a:prstGeom>
          <a:noFill/>
          <a:ln>
            <a:noFill/>
          </a:ln>
        </p:spPr>
        <p:txBody>
          <a:bodyPr wrap="square" anchor="mid" lIns="76200" rIns="76200" tIns="38100" bIns="38100"/>
          <a:lstStyle/>
          <a:p>
            <a:pPr marL="0" marR="0" indent="0" algn="ctr"/>
            <a:r>
              <a:rPr lang="zh-CN" sz="115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RTOS队列、事件标志和互斥保护作为内部同步机制，图中不再展开，避免影响讲解清晰度。</a:t>
            </a:r>
            <a:endParaRPr lang="zh-CN" sz="115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UITU">
  <a:themeElements>
    <a:clrScheme name="GUITU">
      <a:dk1>
        <a:srgbClr val="0F172A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16A34A"/>
      </a:accent2>
      <a:accent3>
        <a:srgbClr val="7C3AED"/>
      </a:accent3>
      <a:accent4>
        <a:srgbClr val="EA580C"/>
      </a:accent4>
      <a:accent5>
        <a:srgbClr val="DC2626"/>
      </a:accent5>
      <a:accent6>
        <a:srgbClr val="0284C7"/>
      </a:accent6>
      <a:hlink>
        <a:srgbClr val="2563EB"/>
      </a:hlink>
      <a:folHlink>
        <a:srgbClr val="7C3AED"/>
      </a:folHlink>
    </a:clrScheme>
    <a:fontScheme name="GUITU">
      <a:majorFont>
        <a:latin typeface="Microsoft YaHei"/>
        <a:ea typeface="Microsoft YaHei"/>
        <a:cs typeface="Microsoft YaHei"/>
      </a:majorFont>
      <a:minorFont>
        <a:latin typeface="Microsoft YaHei"/>
        <a:ea typeface="Microsoft YaHei"/>
        <a:cs typeface="Microsoft YaHei"/>
      </a:minorFont>
    </a:fontScheme>
    <a:fmtScheme name="GUITU">
      <a:fillStyleLst>
        <a:solidFill>
          <a:schemeClr val="phClr"/>
        </a:solidFill>
      </a:fillStyleLst>
      <a:lnStyleLst>
        <a:ln w="9525">
          <a:solidFill>
            <a:schemeClr val="phClr"/>
          </a:solidFill>
        </a:ln>
      </a:lnStyleLst>
      <a:effectStyleLst>
        <a:effectStyle>
          <a:effectLst/>
        </a:effectStyle>
      </a:effectStyleLst>
      <a:bgFillStyleLst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Codex</Application>
  <PresentationFormat>Widescreen</PresentationFormat>
  <Slides>1</Slides>
</Properties>
</file>

<file path=docProps/core.xml><?xml version="1.0" encoding="utf-8"?>
<cp:coreProperties xmlns:cp="http://schemas.openxmlformats.org/package/2006/metadata/core-properties" xmlns:dc="http://purl.org/dc/elements/1.1/">
  <dc:title>系统数据流总览</dc:title>
  <dc:creator>Codex</dc:creator>
  <cp:lastModifiedBy>Codex</cp:lastModifiedBy>
</cp:coreProperties>
</file>